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12080" y="914400"/>
            <a:ext cx="64008" cy="5029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 Unicode MS"/>
              </a:rPr>
              <a:t>台積電將蘋果訂單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 Unicode MS"/>
              </a:rPr>
              <a:t>轉給Intel的影響分析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A0E8"/>
                </a:solidFill>
                <a:latin typeface="Arial Unicode MS"/>
              </a:rPr>
              <a:t>策略分析報告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Arial Unicode MS"/>
              </a:rPr>
              <a:t>2026年5月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5486400" cy="1188720"/>
          </a:xfrm>
          <a:prstGeom prst="rect">
            <a:avLst/>
          </a:prstGeom>
          <a:solidFill>
            <a:srgbClr val="00569D"/>
          </a:solidFill>
          <a:ln w="6350">
            <a:solidFill>
              <a:srgbClr val="00A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463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A623"/>
                </a:solidFill>
                <a:latin typeface="Arial Unicode MS"/>
              </a:rPr>
              <a:t>~2000萬台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965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 Unicode MS"/>
              </a:rPr>
              <a:t>2025年受影響裝置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834640"/>
            <a:ext cx="5486400" cy="1188720"/>
          </a:xfrm>
          <a:prstGeom prst="rect">
            <a:avLst/>
          </a:prstGeom>
          <a:solidFill>
            <a:srgbClr val="00569D"/>
          </a:solidFill>
          <a:ln w="6350">
            <a:solidFill>
              <a:srgbClr val="00A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A623"/>
                </a:solidFill>
                <a:latin typeface="Arial Unicode MS"/>
              </a:rPr>
              <a:t>1500~2000萬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429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 Unicode MS"/>
              </a:rPr>
              <a:t>2026–27年預估出貨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4297680"/>
            <a:ext cx="5486400" cy="1188720"/>
          </a:xfrm>
          <a:prstGeom prst="rect">
            <a:avLst/>
          </a:prstGeom>
          <a:solidFill>
            <a:srgbClr val="00569D"/>
          </a:solidFill>
          <a:ln w="6350">
            <a:solidFill>
              <a:srgbClr val="00A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A623"/>
                </a:solidFill>
                <a:latin typeface="Arial Unicode MS"/>
              </a:rPr>
              <a:t>12年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892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 Unicode MS"/>
              </a:rPr>
              <a:t>台積電獨家代工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62179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 Unicode MS"/>
              </a:rPr>
              <a:t>機密文件 | 仅供内部参考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Unicode MS"/>
              </a:rPr>
              <a:t>01  事件背景：蘋果戰略轉向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303520" cy="5120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  <a:latin typeface="Arial Unicode MS"/>
              </a:rPr>
              <a:t>關鍵事實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 Unicode MS"/>
              </a:rPr>
              <a:t>• 蘋果計畫將部分 M 系列晶片轉單 Intel（18A 製程）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 Unicode MS"/>
              </a:rPr>
              <a:t>• 受影響產品：MacBook Air、iPad Pro（低階款）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 Unicode MS"/>
              </a:rPr>
              <a:t>• 2025 年影響量體約 2000 萬台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 Unicode MS"/>
              </a:rPr>
              <a:t>• 2026–27 年預估 1500–2000 萬台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05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 Unicode MS"/>
              </a:rPr>
              <a:t>• 台積電自 2013 年起獨家代工蘋果 A/M 系列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 Unicode MS"/>
              </a:rPr>
              <a:t>• Intel 18A 製程預計 2025 年小規模量產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4173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  <a:latin typeface="Arial Unicode MS"/>
              </a:rPr>
              <a:t>蘋果轉單的三大原因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920240"/>
            <a:ext cx="5943600" cy="1234440"/>
          </a:xfrm>
          <a:prstGeom prst="rect">
            <a:avLst/>
          </a:prstGeom>
          <a:solidFill>
            <a:srgbClr val="005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rial Unicode MS"/>
              </a:rP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011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Arial Unicode MS"/>
              </a:rPr>
              <a:t>供應鏈風險分散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423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 Unicode MS"/>
              </a:rPr>
              <a:t>台積電產能高度傾斜至 NVIDIA AI 需求，蘋果感受到供應過度集中風險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3337560"/>
            <a:ext cx="5943600" cy="1234440"/>
          </a:xfrm>
          <a:prstGeom prst="rect">
            <a:avLst/>
          </a:prstGeom>
          <a:solidFill>
            <a:srgbClr val="005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rial Unicode MS"/>
              </a:rPr>
              <a:t>⚙️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429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Arial Unicode MS"/>
              </a:rPr>
              <a:t>議價能力與產能優先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404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 Unicode MS"/>
              </a:rPr>
              <a:t>AI 晶片需求擠壓先進製程，蘋果想維持採購話語權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4754880"/>
            <a:ext cx="5943600" cy="1234440"/>
          </a:xfrm>
          <a:prstGeom prst="rect">
            <a:avLst/>
          </a:prstGeom>
          <a:solidFill>
            <a:srgbClr val="005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rial Unicode MS"/>
              </a:rPr>
              <a:t>🇺🇸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846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Arial Unicode MS"/>
              </a:rPr>
              <a:t>政治與供應鏈自主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2578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 Unicode MS"/>
              </a:rPr>
              <a:t>美國《晶片法案》壓力下，多元化供應商符合戰略安全利益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Unicode MS"/>
              </a:rPr>
              <a:t>02  對台積電的影響分析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  <a:latin typeface="Arial Unicode MS"/>
              </a:rPr>
              <a:t>影響矩陣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83080"/>
            <a:ext cx="1280160" cy="914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03911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  <a:latin typeface="Arial Unicode MS"/>
              </a:rPr>
              <a:t>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8562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5C"/>
                </a:solidFill>
                <a:latin typeface="Arial Unicode MS"/>
              </a:rPr>
              <a:t>營收衝擊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219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 Unicode MS"/>
              </a:rPr>
              <a:t>影響營收僅約 3–5%，蘋果仍掌握最大先製程份額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26080"/>
            <a:ext cx="1280160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18211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Unicode MS"/>
              </a:rPr>
              <a:t>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9992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5C"/>
                </a:solidFill>
                <a:latin typeface="Arial Unicode MS"/>
              </a:rPr>
              <a:t>議價壓力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3649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 Unicode MS"/>
              </a:rPr>
              <a:t>失去獨家地位，長期恐影響代工報價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69080"/>
            <a:ext cx="1280160" cy="914400"/>
          </a:xfrm>
          <a:prstGeom prst="rect">
            <a:avLst/>
          </a:prstGeom>
          <a:solidFill>
            <a:srgbClr val="005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432511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  <a:latin typeface="Arial Unicode MS"/>
              </a:rPr>
              <a:t>正向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1422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5C"/>
                </a:solidFill>
                <a:latin typeface="Arial Unicode MS"/>
              </a:rPr>
              <a:t>產能利用率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5079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 Unicode MS"/>
              </a:rPr>
              <a:t> NVIDIA/AI 需求填補空白產能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212080"/>
            <a:ext cx="1280160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546811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Unicode MS"/>
              </a:rP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2852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5C"/>
                </a:solidFill>
                <a:latin typeface="Arial Unicode MS"/>
              </a:rPr>
              <a:t>形象風險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6509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 Unicode MS"/>
              </a:rPr>
              <a:t> 市場解讀為「不再是唯一首選」的心理影響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  <a:latin typeface="Arial Unicode MS"/>
              </a:rPr>
              <a:t>關鍵財務數據（2025年）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783080"/>
            <a:ext cx="5486400" cy="914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874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569D"/>
                </a:solidFill>
                <a:latin typeface="Arial Unicode MS"/>
              </a:rPr>
              <a:t>8,392億元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1874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5C"/>
                </a:solidFill>
                <a:latin typeface="Arial Unicode MS"/>
              </a:rPr>
              <a:t>Q1 營收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 Unicode MS"/>
              </a:rPr>
              <a:t>+41.6%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926080"/>
            <a:ext cx="5486400" cy="914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569D"/>
                </a:solidFill>
                <a:latin typeface="Arial Unicode MS"/>
              </a:rPr>
              <a:t>~1兆元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5C"/>
                </a:solidFill>
                <a:latin typeface="Arial Unicode MS"/>
              </a:rPr>
              <a:t>蘋果年度下單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 Unicode MS"/>
              </a:rPr>
              <a:t>占台積電營收最大宗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069080"/>
            <a:ext cx="5486400" cy="914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160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569D"/>
                </a:solidFill>
                <a:latin typeface="Arial Unicode MS"/>
              </a:rPr>
              <a:t>22%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160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5C"/>
                </a:solidFill>
                <a:latin typeface="Arial Unicode MS"/>
              </a:rPr>
              <a:t>3奈米營收佔比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 Unicode MS"/>
              </a:rPr>
              <a:t>較前年9%大幅提升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5212080"/>
            <a:ext cx="5486400" cy="914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303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569D"/>
                </a:solidFill>
                <a:latin typeface="Arial Unicode MS"/>
              </a:rPr>
              <a:t>50%+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303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5C"/>
                </a:solidFill>
                <a:latin typeface="Arial Unicode MS"/>
              </a:rPr>
              <a:t>2026年N2預訂量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 Unicode MS"/>
              </a:rPr>
              <a:t>蘋果包下過半產能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Unicode MS"/>
              </a:rPr>
              <a:t>03  Intel 18A 的切入點與風險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  <a:latin typeface="Arial Unicode MS"/>
              </a:rPr>
              <a:t>Intel 的代工野心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73152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 Unicode MS"/>
              </a:rPr>
              <a:t>18A 製程定位：等同台積電 N2（約2奈米節點）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42032"/>
            <a:ext cx="73152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542032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 Unicode MS"/>
              </a:rPr>
              <a:t>2025 年正式量產，瞄準外部客戶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255264"/>
            <a:ext cx="73152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25526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 Unicode MS"/>
              </a:rPr>
              <a:t>拿下蘋果 = 拿到「最佳信任狀」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968496"/>
            <a:ext cx="73152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968496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 Unicode MS"/>
              </a:rPr>
              <a:t>可吸引更多非美 IC 設計廠加入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681728"/>
            <a:ext cx="73152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68172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 Unicode MS"/>
              </a:rPr>
              <a:t>美國政府撐腰：《晶片法案》補貼撐場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  <a:latin typeface="Arial Unicode MS"/>
              </a:rPr>
              <a:t>Intel 18A 的切入點與風險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828800"/>
            <a:ext cx="73152" cy="86868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828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3333"/>
                </a:solidFill>
                <a:latin typeface="Arial Unicode MS"/>
              </a:rPr>
              <a:t>良率不確定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2402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 Unicode MS"/>
              </a:rPr>
              <a:t>18A 量產初期良率仍在掙扎，Q4 財報已見端倪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971800"/>
            <a:ext cx="73152" cy="86868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971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3333"/>
                </a:solidFill>
                <a:latin typeface="Arial Unicode MS"/>
              </a:rPr>
              <a:t>供應鏈短缺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3832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 Unicode MS"/>
              </a:rPr>
              <a:t>關鍵材料和設備仍高度依賴亞洲供應鏈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4114800"/>
            <a:ext cx="73152" cy="86868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4114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3333"/>
                </a:solidFill>
                <a:latin typeface="Arial Unicode MS"/>
              </a:rPr>
              <a:t>執行風險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5262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 Unicode MS"/>
              </a:rPr>
              <a:t>2026 年能否順利交付，仍是未知數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5257800"/>
            <a:ext cx="73152" cy="86868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5257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3333"/>
                </a:solidFill>
                <a:latin typeface="Arial Unicode MS"/>
              </a:rPr>
              <a:t>客戶驗證慢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6692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 Unicode MS"/>
              </a:rPr>
              <a:t>外部客戶採納節點需要 12–18 個月驗證期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Unicode MS"/>
              </a:rPr>
              <a:t>04  產業結構：三方勢力消長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4846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 Unicode MS"/>
              </a:rPr>
              <a:t>🍎 蘋果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148840"/>
            <a:ext cx="2926080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28600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 Unicode MS"/>
              </a:rPr>
              <a:t>議價能力↑
供應更彈性
政治正確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474720" cy="4846320"/>
          </a:xfrm>
          <a:prstGeom prst="rect">
            <a:avLst/>
          </a:prstGeom>
          <a:solidFill>
            <a:srgbClr val="005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54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 Unicode MS"/>
              </a:rPr>
              <a:t>⚡ 台積電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80560" y="2148840"/>
            <a:ext cx="2926080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80560" y="228600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 Unicode MS"/>
              </a:rPr>
              <a:t>仍是蘋果首選
營收影響有限
AI需求填補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474720" cy="4846320"/>
          </a:xfrm>
          <a:prstGeom prst="rect">
            <a:avLst/>
          </a:prstGeom>
          <a:solidFill>
            <a:srgbClr val="33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54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 Unicode MS"/>
              </a:rPr>
              <a:t>💙 Intel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21040" y="2148840"/>
            <a:ext cx="2926080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21040" y="228600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 Unicode MS"/>
              </a:rPr>
              <a:t>18A 首張大單
信任狀到手
挑戰才開始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Unicode MS"/>
              </a:rPr>
              <a:t>05  投資啟示：風險與機會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569D"/>
                </a:solidFill>
                <a:latin typeface="Arial Unicode MS"/>
              </a:rPr>
              <a:t>台積電（2330）觀察重點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 Unicode MS"/>
              </a:rPr>
              <a:t>✅ 先製程 N2 蘋果仍搶先下單，2026 過半產能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 Unicode MS"/>
              </a:rPr>
              <a:t>✅ AI GPU 需求填補蘋果低階單流失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0896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 Unicode MS"/>
              </a:rPr>
              <a:t>✅ 美國亞利桑那廠獲蘋果 2026 年逾億顆大單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4904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 Unicode MS"/>
              </a:rPr>
              <a:t>⚠️  中長期議價力須持續觀察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38912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 Unicode MS"/>
              </a:rPr>
              <a:t>⚠️  關注 2 奈米良率與擴產節奏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99CC"/>
                </a:solidFill>
                <a:latin typeface="Arial Unicode MS"/>
              </a:rPr>
              <a:t>Intel 觀察重點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288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 Unicode MS"/>
              </a:rPr>
              <a:t>🔵 若蘋果 18A 驗證通過，指標意義重大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 Unicode MS"/>
              </a:rPr>
              <a:t>🔵 外部客戶驗證進展 = 股價催化劑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10896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 Unicode MS"/>
              </a:rPr>
              <a:t>🔵 Q1 財測疲弱，短期估值承壓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74904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 Unicode MS"/>
              </a:rPr>
              <a:t>🔵 18A 良率提升速度是核心變數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38912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 Unicode MS"/>
              </a:rPr>
              <a:t>🔵 需逐季檢視供應鏈瓶頸緩解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852160"/>
            <a:ext cx="11612880" cy="777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Arial Unicode MS"/>
              </a:rPr>
              <a:t>⚠️  本文僅供參考，不構成投資建議。投資人應關注蘋果新機種代工分配、台積電2奈米量產良率進展、先進封裝擴產節奏。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Unicode MS"/>
              </a:rPr>
              <a:t>結論：關鍵觀察指標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00584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Arial Unicode MS"/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087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Arial Unicode MS"/>
              </a:rPr>
              <a:t>蘋果 M 系列代工分配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20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  <a:latin typeface="Arial Unicode MS"/>
              </a:rPr>
              <a:t>2025 年底確認實際轉單量與產品範圍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100584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Arial Unicode MS"/>
              </a:rPr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517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Arial Unicode MS"/>
              </a:rPr>
              <a:t>Intel 18A 良率與量產進度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063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  <a:latin typeface="Arial Unicode MS"/>
              </a:rPr>
              <a:t>2026 上半年量產曲線是關鍵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40"/>
            <a:ext cx="100584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9776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Arial Unicode MS"/>
              </a:rPr>
              <a:t>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7947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Arial Unicode MS"/>
              </a:rPr>
              <a:t>台積電 2 奈米（N2）進度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206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  <a:latin typeface="Arial Unicode MS"/>
              </a:rPr>
              <a:t>蘋果包下過半產能，良率決定利多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92040"/>
            <a:ext cx="100584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Arial Unicode MS"/>
              </a:rP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9377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Arial Unicode MS"/>
              </a:rPr>
              <a:t>供應鏈區域化趨勢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349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  <a:latin typeface="Arial Unicode MS"/>
              </a:rPr>
              <a:t>《晶片法案》加速多元區域佈局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Arial Unicode MS"/>
              </a:rPr>
              <a:t>核心判斷：短期情緒影響 &gt; 實質財務衝擊；長期趨勢取決於 Intel 能否證明 18A 的量產能力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